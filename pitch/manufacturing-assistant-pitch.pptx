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8c6386b43bb4966" /><Relationship Type="http://schemas.openxmlformats.org/officeDocument/2006/relationships/extended-properties" Target="/docProps/app.xml" Id="Re5090e67ed514285" /><Relationship Type="http://schemas.openxmlformats.org/officeDocument/2006/relationships/officeDocument" Target="/ppt/presentation.xml" Id="R5e5a42e9c9964d64" /></Relationships>
</file>

<file path=ppt/presentation.xml><?xml version="1.0" encoding="utf-8"?>
<p:presentation xmlns:p="http://schemas.openxmlformats.org/presentationml/2006/main">
  <p:sldMasterIdLst>
    <p:sldMasterId xmlns:r="http://schemas.openxmlformats.org/officeDocument/2006/relationships" id="2147483648" r:id="R845ad6b4d3c74a84"/>
  </p:sldMasterIdLst>
  <p:notesMasterIdLst>
    <p:notesMasterId xmlns:r="http://schemas.openxmlformats.org/officeDocument/2006/relationships" r:id="R70ce507f358a4628"/>
  </p:notesMasterIdLst>
  <p:sldIdLst>
    <p:sldId xmlns:r="http://schemas.openxmlformats.org/officeDocument/2006/relationships" id="256" r:id="R2e9c475aa2d847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82b2c40b6ca4da8" /><Relationship Type="http://schemas.openxmlformats.org/officeDocument/2006/relationships/slideMaster" Target="/ppt/slideMasters/slideMaster1.xml" Id="R845ad6b4d3c74a84" /><Relationship Type="http://schemas.openxmlformats.org/officeDocument/2006/relationships/notesMaster" Target="/ppt/notesMasters/notesMaster1.xml" Id="R70ce507f358a4628" /><Relationship Type="http://schemas.openxmlformats.org/officeDocument/2006/relationships/presProps" Target="/ppt/presProps.xml" Id="R49b144cf12554915" /><Relationship Type="http://schemas.openxmlformats.org/officeDocument/2006/relationships/tableStyles" Target="/ppt/tableStyles.xml" Id="R34b952813b14497e" /><Relationship Type="http://schemas.openxmlformats.org/officeDocument/2006/relationships/slide" Target="/ppt/slides/slide1.xml" Id="R2e9c475aa2d847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57d23fc63542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44b8dc83124eb1" /><Relationship Type="http://schemas.openxmlformats.org/officeDocument/2006/relationships/notesMaster" Target="/ppt/notesMasters/notesMaster1.xml" Id="R6fec8b6708434b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Pitch (about 60 seconds):</a:t>
            </a:r>
          </a:p>
          <a:p xmlns:a="http://schemas.openxmlformats.org/drawingml/2006/main">
            <a:r>
              <a:t>Floor supervisors need guidance quickly, but a question may span several manuals. This assistant lets them ask in everyday language. AI selects relevant categories, finds passages, and returns an answer with quotations and source references. Supervisors can open those references and check the original guidance. Our business hypothesis is reduced search time while preserving source visibility. The current demo uses 12 fictional documents across Safety, Maintenance, Quality and Operations. The proposed next step is a supervised pilot with approved plant documents, subject to resolving the known support and safety failures and validating the full deployed workflow. Measure search time against the existing process and have plant experts review factual support. No time savings or production accuracy have been established.</a:t>
            </a:r>
          </a:p>
          <a:p xmlns:a="http://schemas.openxmlformats.org/drawingml/2006/main">
            <a:r>
              <a:t/>
            </a:r>
          </a:p>
          <a:p xmlns:a="http://schemas.openxmlformats.org/drawingml/2006/main">
            <a:r>
              <a:t>Current limitations: public shared demo corpus, no authentication, no uploads, no plant approval. Latest reported automated local suite: 23/25, release gate fails. Agent review found displayed support on 12/14 reference answers; unsafe-query rejection was 8/9. HTTP/Zilliz acceptance blocked by incomplete corpus. These are small synthetic development cases, not production accuracy estimates. Runtime model verification and citation checks reduce some risks but do not establish truth.</a:t>
            </a:r>
          </a:p>
          <a:p xmlns:a="http://schemas.openxmlformats.org/drawingml/2006/main">
            <a:r>
              <a:t/>
            </a:r>
          </a:p>
          <a:p xmlns:a="http://schemas.openxmlformats.org/drawingml/2006/main">
            <a:r>
              <a:t>Sources: /Users/hanzh/Dev/Projects/global-insight-demo/README.md; /Users/hanzh/Dev/Projects/global-insight-demo/evals/README.md; /Users/hanzh/Dev/Projects/global-insight-demo/evals/RESULTS.md. Snapshot read October 9, 2026. Pilot proposal and value hypothesis are recommendations, not measured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f0da7fbd31641b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4e0d0a518dc46c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4af74286613480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155d7a535c3499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64bd142fd8a436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7741d7d641f4e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7826D3-8AFE-43DE-858C-22F31056183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D899E24-30A7-4752-AD50-2879A46062D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AA94560-3829-4E9F-BAE9-232785A3133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CCEA86-EDD6-42CA-A22C-D1FD682A4BB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BFE3327-89EE-452B-98A3-81DCFDEE372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D6BC7C8-AA4D-4BB8-9007-862B8F5356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4FEFAAA-6A91-43B5-8732-51402E81003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A7F47AA-7F68-4887-B0CB-818A5BD53A4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5B771A-149F-4CC4-8162-0355B02D4F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AF115F1-06BC-4FA5-9C79-829DFF95763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bfd2e14d5247a1" /><Relationship Type="http://schemas.openxmlformats.org/officeDocument/2006/relationships/slideLayout" Target="/ppt/slideLayouts/slideLayout1.xml" Id="R98476e79cf5741af" /><Relationship Type="http://schemas.openxmlformats.org/officeDocument/2006/relationships/slideLayout" Target="/ppt/slideLayouts/slideLayout2.xml" Id="Rf61edad648a94eeb" /><Relationship Type="http://schemas.openxmlformats.org/officeDocument/2006/relationships/slideLayout" Target="/ppt/slideLayouts/slideLayout3.xml" Id="R30307da5ec05422e" /><Relationship Type="http://schemas.openxmlformats.org/officeDocument/2006/relationships/slideLayout" Target="/ppt/slideLayouts/slideLayout4.xml" Id="R8346fc86fbf848b5" /><Relationship Type="http://schemas.openxmlformats.org/officeDocument/2006/relationships/slideLayout" Target="/ppt/slideLayouts/slideLayout5.xml" Id="R6684f2e1287b4f1f" /><Relationship Type="http://schemas.openxmlformats.org/officeDocument/2006/relationships/slideLayout" Target="/ppt/slideLayouts/slideLayout6.xml" Id="R8f4e413b070945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8476e79cf5741af"/>
    <p:sldLayoutId xmlns:r="http://schemas.openxmlformats.org/officeDocument/2006/relationships" id="2147483650" r:id="Rf61edad648a94eeb"/>
    <p:sldLayoutId xmlns:r="http://schemas.openxmlformats.org/officeDocument/2006/relationships" id="2147483651" r:id="R30307da5ec05422e"/>
    <p:sldLayoutId xmlns:r="http://schemas.openxmlformats.org/officeDocument/2006/relationships" id="2147483652" r:id="R8346fc86fbf848b5"/>
    <p:sldLayoutId xmlns:r="http://schemas.openxmlformats.org/officeDocument/2006/relationships" id="2147483653" r:id="R6684f2e1287b4f1f"/>
    <p:sldLayoutId xmlns:r="http://schemas.openxmlformats.org/officeDocument/2006/relationships" id="2147483654" r:id="R8f4e413b070945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1d27430c8aa4cb9" /><Relationship Type="http://schemas.openxmlformats.org/officeDocument/2006/relationships/notesSlide" Target="/ppt/notesSlides/notesSlide1.xml" Id="R385bdce0a3e84398" /></Relationships>
</file>

<file path=ppt/slides/slide1.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0" name="title">
            <a:extLst xmlns:a="http://schemas.openxmlformats.org/drawingml/2006/main">
              <a:ext uri="{FF2B5EF4-FFF2-40B4-BE49-F238E27FC236}">
                <a16:creationId xmlns:a16="http://schemas.microsoft.com/office/drawing/2014/main" id="{8676A01C-8290-41CE-A6E6-AEBEA1A4036A}"/>
              </a:ext>
            </a:extLst>
          </p:cNvPr>
          <p:cNvSpPr>
            <a:spLocks xmlns:a="http://schemas.openxmlformats.org/drawingml/2006/main" noGrp="1"/>
          </p:cNvSpPr>
          <p:nvPr/>
        </p:nvSpPr>
        <p:spPr>
          <a:xfrm xmlns:a="http://schemas.openxmlformats.org/drawingml/2006/main">
            <a:off x="571500" y="42862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900" b="1">
                <a:solidFill>
                  <a:srgbClr val="182D35"/>
                </a:solidFill>
                <a:latin typeface="Arial"/>
                <a:ea typeface="Arial"/>
                <a:cs typeface="Arial"/>
              </a:defRPr>
            </a:defPPr>
          </a:lstStyle>
          <a:p xmlns:a="http://schemas.openxmlformats.org/drawingml/2006/main">
            <a:pPr>
              <a:defRPr sz="3900" b="1">
                <a:solidFill>
                  <a:srgbClr val="182D35"/>
                </a:solidFill>
                <a:latin typeface="Arial"/>
                <a:ea typeface="Arial"/>
                <a:cs typeface="Arial"/>
              </a:defRPr>
            </a:pPr>
            <a:r>
              <a:rPr sz="3900" b="1">
                <a:solidFill>
                  <a:srgbClr val="182D35"/>
                </a:solidFill>
                <a:latin typeface="Arial"/>
                <a:ea typeface="Arial"/>
                <a:cs typeface="Arial"/>
              </a:rPr>
              <a:t>Plant documentation assistant</a:t>
            </a:r>
          </a:p>
        </p:txBody>
      </p:sp>
      <p:sp>
        <p:nvSpPr>
          <p:cNvPr id="2" name="promise">
            <a:extLst xmlns:a="http://schemas.openxmlformats.org/drawingml/2006/main">
              <a:ext uri="{FF2B5EF4-FFF2-40B4-BE49-F238E27FC236}">
                <a16:creationId xmlns:a16="http://schemas.microsoft.com/office/drawing/2014/main" id="{D8302A84-8767-48E0-9649-758692084051}"/>
              </a:ext>
            </a:extLst>
          </p:cNvPr>
          <p:cNvSpPr>
            <a:spLocks xmlns:a="http://schemas.openxmlformats.org/drawingml/2006/main" noGrp="1"/>
          </p:cNvSpPr>
          <p:nvPr/>
        </p:nvSpPr>
        <p:spPr>
          <a:xfrm xmlns:a="http://schemas.openxmlformats.org/drawingml/2006/main">
            <a:off x="590550" y="117157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43575E"/>
                </a:solidFill>
                <a:latin typeface="Arial"/>
                <a:ea typeface="Arial"/>
                <a:cs typeface="Arial"/>
              </a:defRPr>
            </a:defPPr>
          </a:lstStyle>
          <a:p xmlns:a="http://schemas.openxmlformats.org/drawingml/2006/main">
            <a:pPr>
              <a:defRPr sz="1950" b="0">
                <a:solidFill>
                  <a:srgbClr val="43575E"/>
                </a:solidFill>
                <a:latin typeface="Arial"/>
                <a:ea typeface="Arial"/>
                <a:cs typeface="Arial"/>
              </a:defRPr>
            </a:pPr>
            <a:r>
              <a:rPr sz="1950" b="0">
                <a:solidFill>
                  <a:srgbClr val="43575E"/>
                </a:solidFill>
                <a:latin typeface="Arial"/>
                <a:ea typeface="Arial"/>
                <a:cs typeface="Arial"/>
              </a:rPr>
              <a:t>AI helps floor supervisors find the right procedure and check the source.</a:t>
            </a:r>
          </a:p>
        </p:txBody>
      </p:sp>
      <p:sp>
        <p:nvSpPr>
          <p:cNvPr id="3" name="problem-heading">
            <a:extLst xmlns:a="http://schemas.openxmlformats.org/drawingml/2006/main">
              <a:ext uri="{FF2B5EF4-FFF2-40B4-BE49-F238E27FC236}">
                <a16:creationId xmlns:a16="http://schemas.microsoft.com/office/drawing/2014/main" id="{449A5E1B-D466-4051-B1FA-03FF34319733}"/>
              </a:ext>
            </a:extLst>
          </p:cNvPr>
          <p:cNvSpPr>
            <a:spLocks xmlns:a="http://schemas.openxmlformats.org/drawingml/2006/main" noGrp="1"/>
          </p:cNvSpPr>
          <p:nvPr/>
        </p:nvSpPr>
        <p:spPr>
          <a:xfrm xmlns:a="http://schemas.openxmlformats.org/drawingml/2006/main">
            <a:off x="590550" y="2019300"/>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82D35"/>
                </a:solidFill>
                <a:latin typeface="Arial"/>
                <a:ea typeface="Arial"/>
                <a:cs typeface="Arial"/>
              </a:defRPr>
            </a:defPPr>
          </a:lstStyle>
          <a:p xmlns:a="http://schemas.openxmlformats.org/drawingml/2006/main">
            <a:pPr>
              <a:defRPr sz="2175" b="1">
                <a:solidFill>
                  <a:srgbClr val="182D35"/>
                </a:solidFill>
                <a:latin typeface="Arial"/>
                <a:ea typeface="Arial"/>
                <a:cs typeface="Arial"/>
              </a:defRPr>
            </a:pPr>
            <a:r>
              <a:rPr sz="2175" b="1">
                <a:solidFill>
                  <a:srgbClr val="182D35"/>
                </a:solidFill>
                <a:latin typeface="Arial"/>
                <a:ea typeface="Arial"/>
                <a:cs typeface="Arial"/>
              </a:rPr>
              <a:t>The problem</a:t>
            </a:r>
          </a:p>
        </p:txBody>
      </p:sp>
      <p:sp>
        <p:nvSpPr>
          <p:cNvPr id="4" name="problem">
            <a:extLst xmlns:a="http://schemas.openxmlformats.org/drawingml/2006/main">
              <a:ext uri="{FF2B5EF4-FFF2-40B4-BE49-F238E27FC236}">
                <a16:creationId xmlns:a16="http://schemas.microsoft.com/office/drawing/2014/main" id="{E1B37D66-DD8D-4A3B-B8E3-B3A2A43D570B}"/>
              </a:ext>
            </a:extLst>
          </p:cNvPr>
          <p:cNvSpPr>
            <a:spLocks xmlns:a="http://schemas.openxmlformats.org/drawingml/2006/main" noGrp="1"/>
          </p:cNvSpPr>
          <p:nvPr/>
        </p:nvSpPr>
        <p:spPr>
          <a:xfrm xmlns:a="http://schemas.openxmlformats.org/drawingml/2006/main">
            <a:off x="590550" y="2505075"/>
            <a:ext cx="4429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82D35"/>
                </a:solidFill>
                <a:latin typeface="Arial"/>
                <a:ea typeface="Arial"/>
                <a:cs typeface="Arial"/>
              </a:defRPr>
            </a:defPPr>
          </a:lstStyle>
          <a:p xmlns:a="http://schemas.openxmlformats.org/drawingml/2006/main">
            <a:pPr>
              <a:defRPr sz="2025" b="0">
                <a:solidFill>
                  <a:srgbClr val="182D35"/>
                </a:solidFill>
                <a:latin typeface="Arial"/>
                <a:ea typeface="Arial"/>
                <a:cs typeface="Arial"/>
              </a:defRPr>
            </a:pPr>
            <a:r>
              <a:rPr sz="2025" b="0">
                <a:solidFill>
                  <a:srgbClr val="182D35"/>
                </a:solidFill>
                <a:latin typeface="Arial"/>
                <a:ea typeface="Arial"/>
                <a:cs typeface="Arial"/>
              </a:rPr>
              <a:t>A supervisor’s question can span several manuals. Finding the relevant guidance interrupts work on the floor.</a:t>
            </a:r>
          </a:p>
        </p:txBody>
      </p:sp>
      <p:sp>
        <p:nvSpPr>
          <p:cNvPr id="5" name="value-heading">
            <a:extLst xmlns:a="http://schemas.openxmlformats.org/drawingml/2006/main">
              <a:ext uri="{FF2B5EF4-FFF2-40B4-BE49-F238E27FC236}">
                <a16:creationId xmlns:a16="http://schemas.microsoft.com/office/drawing/2014/main" id="{294D8FB2-4AE9-41D4-855E-92EA55715DAB}"/>
              </a:ext>
            </a:extLst>
          </p:cNvPr>
          <p:cNvSpPr>
            <a:spLocks xmlns:a="http://schemas.openxmlformats.org/drawingml/2006/main" noGrp="1"/>
          </p:cNvSpPr>
          <p:nvPr/>
        </p:nvSpPr>
        <p:spPr>
          <a:xfrm xmlns:a="http://schemas.openxmlformats.org/drawingml/2006/main">
            <a:off x="590550" y="3943350"/>
            <a:ext cx="438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82D35"/>
                </a:solidFill>
                <a:latin typeface="Arial"/>
                <a:ea typeface="Arial"/>
                <a:cs typeface="Arial"/>
              </a:defRPr>
            </a:defPPr>
          </a:lstStyle>
          <a:p xmlns:a="http://schemas.openxmlformats.org/drawingml/2006/main">
            <a:pPr>
              <a:defRPr sz="2175" b="1">
                <a:solidFill>
                  <a:srgbClr val="182D35"/>
                </a:solidFill>
                <a:latin typeface="Arial"/>
                <a:ea typeface="Arial"/>
                <a:cs typeface="Arial"/>
              </a:defRPr>
            </a:pPr>
            <a:r>
              <a:rPr sz="2175" b="1">
                <a:solidFill>
                  <a:srgbClr val="182D35"/>
                </a:solidFill>
                <a:latin typeface="Arial"/>
                <a:ea typeface="Arial"/>
                <a:cs typeface="Arial"/>
              </a:rPr>
              <a:t>The value to test</a:t>
            </a:r>
          </a:p>
        </p:txBody>
      </p:sp>
      <p:sp>
        <p:nvSpPr>
          <p:cNvPr id="6" name="value">
            <a:extLst xmlns:a="http://schemas.openxmlformats.org/drawingml/2006/main">
              <a:ext uri="{FF2B5EF4-FFF2-40B4-BE49-F238E27FC236}">
                <a16:creationId xmlns:a16="http://schemas.microsoft.com/office/drawing/2014/main" id="{7F64ADFF-0A00-49E3-B9F4-EC80339BD0C6}"/>
              </a:ext>
            </a:extLst>
          </p:cNvPr>
          <p:cNvSpPr>
            <a:spLocks xmlns:a="http://schemas.openxmlformats.org/drawingml/2006/main" noGrp="1"/>
          </p:cNvSpPr>
          <p:nvPr/>
        </p:nvSpPr>
        <p:spPr>
          <a:xfrm xmlns:a="http://schemas.openxmlformats.org/drawingml/2006/main">
            <a:off x="590550" y="4410075"/>
            <a:ext cx="4524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82D35"/>
                </a:solidFill>
                <a:latin typeface="Arial"/>
                <a:ea typeface="Arial"/>
                <a:cs typeface="Arial"/>
              </a:defRPr>
            </a:defPPr>
          </a:lstStyle>
          <a:p xmlns:a="http://schemas.openxmlformats.org/drawingml/2006/main">
            <a:pPr>
              <a:defRPr sz="2100" b="0">
                <a:solidFill>
                  <a:srgbClr val="182D35"/>
                </a:solidFill>
                <a:latin typeface="Arial"/>
                <a:ea typeface="Arial"/>
                <a:cs typeface="Arial"/>
              </a:defRPr>
            </a:pPr>
            <a:r>
              <a:rPr sz="2100" b="0">
                <a:solidFill>
                  <a:srgbClr val="182D35"/>
                </a:solidFill>
                <a:latin typeface="Arial"/>
                <a:ea typeface="Arial"/>
                <a:cs typeface="Arial"/>
              </a:rPr>
              <a:t>Less time searching.</a:t>
            </a:r>
          </a:p>
          <a:p xmlns:a="http://schemas.openxmlformats.org/drawingml/2006/main">
            <a:pPr>
              <a:defRPr sz="2100" b="0">
                <a:solidFill>
                  <a:srgbClr val="182D35"/>
                </a:solidFill>
                <a:latin typeface="Arial"/>
                <a:ea typeface="Arial"/>
                <a:cs typeface="Arial"/>
              </a:defRPr>
            </a:pPr>
            <a:r>
              <a:rPr sz="2100" b="0">
                <a:solidFill>
                  <a:srgbClr val="182D35"/>
                </a:solidFill>
                <a:latin typeface="Arial"/>
                <a:ea typeface="Arial"/>
                <a:cs typeface="Arial"/>
              </a:rPr>
              <a:t>A clear source for every answer.</a:t>
            </a:r>
          </a:p>
        </p:txBody>
      </p:sp>
      <p:sp>
        <p:nvSpPr>
          <p:cNvPr id="7" name="workflow-heading">
            <a:extLst xmlns:a="http://schemas.openxmlformats.org/drawingml/2006/main">
              <a:ext uri="{FF2B5EF4-FFF2-40B4-BE49-F238E27FC236}">
                <a16:creationId xmlns:a16="http://schemas.microsoft.com/office/drawing/2014/main" id="{A58E8F1E-05A0-47BA-9FBE-2C5D0E51B9BC}"/>
              </a:ext>
            </a:extLst>
          </p:cNvPr>
          <p:cNvSpPr>
            <a:spLocks xmlns:a="http://schemas.openxmlformats.org/drawingml/2006/main" noGrp="1"/>
          </p:cNvSpPr>
          <p:nvPr/>
        </p:nvSpPr>
        <p:spPr>
          <a:xfrm xmlns:a="http://schemas.openxmlformats.org/drawingml/2006/main">
            <a:off x="5953125" y="2019300"/>
            <a:ext cx="5667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82D35"/>
                </a:solidFill>
                <a:latin typeface="Arial"/>
                <a:ea typeface="Arial"/>
                <a:cs typeface="Arial"/>
              </a:defRPr>
            </a:defPPr>
          </a:lstStyle>
          <a:p xmlns:a="http://schemas.openxmlformats.org/drawingml/2006/main">
            <a:pPr>
              <a:defRPr sz="2175" b="1">
                <a:solidFill>
                  <a:srgbClr val="182D35"/>
                </a:solidFill>
                <a:latin typeface="Arial"/>
                <a:ea typeface="Arial"/>
                <a:cs typeface="Arial"/>
              </a:defRPr>
            </a:pPr>
            <a:r>
              <a:rPr sz="2175" b="1">
                <a:solidFill>
                  <a:srgbClr val="182D35"/>
                </a:solidFill>
                <a:latin typeface="Arial"/>
                <a:ea typeface="Arial"/>
                <a:cs typeface="Arial"/>
              </a:rPr>
              <a:t>One question, relevant guidance</a:t>
            </a:r>
          </a:p>
        </p:txBody>
      </p:sp>
      <p:sp>
        <p:nvSpPr>
          <p:cNvPr id="8" name="step1-number">
            <a:extLst xmlns:a="http://schemas.openxmlformats.org/drawingml/2006/main">
              <a:ext uri="{FF2B5EF4-FFF2-40B4-BE49-F238E27FC236}">
                <a16:creationId xmlns:a16="http://schemas.microsoft.com/office/drawing/2014/main" id="{F3F3288D-D598-4C7C-BFF9-98FD2F6F7B04}"/>
              </a:ext>
            </a:extLst>
          </p:cNvPr>
          <p:cNvSpPr>
            <a:spLocks xmlns:a="http://schemas.openxmlformats.org/drawingml/2006/main" noGrp="1"/>
          </p:cNvSpPr>
          <p:nvPr/>
        </p:nvSpPr>
        <p:spPr>
          <a:xfrm xmlns:a="http://schemas.openxmlformats.org/drawingml/2006/main">
            <a:off x="5953125" y="2590800"/>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B776D"/>
                </a:solidFill>
                <a:latin typeface="Arial"/>
                <a:ea typeface="Arial"/>
                <a:cs typeface="Arial"/>
              </a:defRPr>
            </a:defPPr>
          </a:lstStyle>
          <a:p xmlns:a="http://schemas.openxmlformats.org/drawingml/2006/main">
            <a:pPr>
              <a:defRPr sz="2025" b="1">
                <a:solidFill>
                  <a:srgbClr val="0B776D"/>
                </a:solidFill>
                <a:latin typeface="Arial"/>
                <a:ea typeface="Arial"/>
                <a:cs typeface="Arial"/>
              </a:defRPr>
            </a:pPr>
            <a:r>
              <a:rPr sz="2025" b="1">
                <a:solidFill>
                  <a:srgbClr val="0B776D"/>
                </a:solidFill>
                <a:latin typeface="Arial"/>
                <a:ea typeface="Arial"/>
                <a:cs typeface="Arial"/>
              </a:rPr>
              <a:t>01</a:t>
            </a:r>
          </a:p>
        </p:txBody>
      </p:sp>
      <p:sp>
        <p:nvSpPr>
          <p:cNvPr id="9" name="step1-title">
            <a:extLst xmlns:a="http://schemas.openxmlformats.org/drawingml/2006/main">
              <a:ext uri="{FF2B5EF4-FFF2-40B4-BE49-F238E27FC236}">
                <a16:creationId xmlns:a16="http://schemas.microsoft.com/office/drawing/2014/main" id="{FCDC5494-B7A8-463E-BA0E-463636CACDE3}"/>
              </a:ext>
            </a:extLst>
          </p:cNvPr>
          <p:cNvSpPr>
            <a:spLocks xmlns:a="http://schemas.openxmlformats.org/drawingml/2006/main" noGrp="1"/>
          </p:cNvSpPr>
          <p:nvPr/>
        </p:nvSpPr>
        <p:spPr>
          <a:xfrm xmlns:a="http://schemas.openxmlformats.org/drawingml/2006/main">
            <a:off x="6638925" y="2562225"/>
            <a:ext cx="4914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82D35"/>
                </a:solidFill>
                <a:latin typeface="Arial"/>
                <a:ea typeface="Arial"/>
                <a:cs typeface="Arial"/>
              </a:defRPr>
            </a:defPPr>
          </a:lstStyle>
          <a:p xmlns:a="http://schemas.openxmlformats.org/drawingml/2006/main">
            <a:pPr>
              <a:defRPr sz="2025" b="1">
                <a:solidFill>
                  <a:srgbClr val="182D35"/>
                </a:solidFill>
                <a:latin typeface="Arial"/>
                <a:ea typeface="Arial"/>
                <a:cs typeface="Arial"/>
              </a:defRPr>
            </a:pPr>
            <a:r>
              <a:rPr sz="2025" b="1">
                <a:solidFill>
                  <a:srgbClr val="182D35"/>
                </a:solidFill>
                <a:latin typeface="Arial"/>
                <a:ea typeface="Arial"/>
                <a:cs typeface="Arial"/>
              </a:rPr>
              <a:t>Ask in everyday language</a:t>
            </a:r>
          </a:p>
        </p:txBody>
      </p:sp>
      <p:sp>
        <p:nvSpPr>
          <p:cNvPr id="10" name="step1-body">
            <a:extLst xmlns:a="http://schemas.openxmlformats.org/drawingml/2006/main">
              <a:ext uri="{FF2B5EF4-FFF2-40B4-BE49-F238E27FC236}">
                <a16:creationId xmlns:a16="http://schemas.microsoft.com/office/drawing/2014/main" id="{89821EB1-56F2-4E24-BDA3-D3B862A5CDCF}"/>
              </a:ext>
            </a:extLst>
          </p:cNvPr>
          <p:cNvSpPr>
            <a:spLocks xmlns:a="http://schemas.openxmlformats.org/drawingml/2006/main" noGrp="1"/>
          </p:cNvSpPr>
          <p:nvPr/>
        </p:nvSpPr>
        <p:spPr>
          <a:xfrm xmlns:a="http://schemas.openxmlformats.org/drawingml/2006/main">
            <a:off x="6638925" y="2962275"/>
            <a:ext cx="4914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3575E"/>
                </a:solidFill>
                <a:latin typeface="Arial"/>
                <a:ea typeface="Arial"/>
                <a:cs typeface="Arial"/>
              </a:defRPr>
            </a:defPPr>
          </a:lstStyle>
          <a:p xmlns:a="http://schemas.openxmlformats.org/drawingml/2006/main">
            <a:pPr>
              <a:defRPr sz="1800" b="0">
                <a:solidFill>
                  <a:srgbClr val="43575E"/>
                </a:solidFill>
                <a:latin typeface="Arial"/>
                <a:ea typeface="Arial"/>
                <a:cs typeface="Arial"/>
              </a:defRPr>
            </a:pPr>
            <a:r>
              <a:rPr sz="1800" b="0">
                <a:solidFill>
                  <a:srgbClr val="43575E"/>
                </a:solidFill>
                <a:latin typeface="Arial"/>
                <a:ea typeface="Arial"/>
                <a:cs typeface="Arial"/>
              </a:rPr>
              <a:t>No need to choose a manual first.</a:t>
            </a:r>
          </a:p>
        </p:txBody>
      </p:sp>
      <p:sp>
        <p:nvSpPr>
          <p:cNvPr id="11" name="step2-number">
            <a:extLst xmlns:a="http://schemas.openxmlformats.org/drawingml/2006/main">
              <a:ext uri="{FF2B5EF4-FFF2-40B4-BE49-F238E27FC236}">
                <a16:creationId xmlns:a16="http://schemas.microsoft.com/office/drawing/2014/main" id="{5450F90E-2000-4276-9037-1677085B4975}"/>
              </a:ext>
            </a:extLst>
          </p:cNvPr>
          <p:cNvSpPr>
            <a:spLocks xmlns:a="http://schemas.openxmlformats.org/drawingml/2006/main" noGrp="1"/>
          </p:cNvSpPr>
          <p:nvPr/>
        </p:nvSpPr>
        <p:spPr>
          <a:xfrm xmlns:a="http://schemas.openxmlformats.org/drawingml/2006/main">
            <a:off x="5953125" y="3476625"/>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B776D"/>
                </a:solidFill>
                <a:latin typeface="Arial"/>
                <a:ea typeface="Arial"/>
                <a:cs typeface="Arial"/>
              </a:defRPr>
            </a:defPPr>
          </a:lstStyle>
          <a:p xmlns:a="http://schemas.openxmlformats.org/drawingml/2006/main">
            <a:pPr>
              <a:defRPr sz="2025" b="1">
                <a:solidFill>
                  <a:srgbClr val="0B776D"/>
                </a:solidFill>
                <a:latin typeface="Arial"/>
                <a:ea typeface="Arial"/>
                <a:cs typeface="Arial"/>
              </a:defRPr>
            </a:pPr>
            <a:r>
              <a:rPr sz="2025" b="1">
                <a:solidFill>
                  <a:srgbClr val="0B776D"/>
                </a:solidFill>
                <a:latin typeface="Arial"/>
                <a:ea typeface="Arial"/>
                <a:cs typeface="Arial"/>
              </a:rPr>
              <a:t>02</a:t>
            </a:r>
          </a:p>
        </p:txBody>
      </p:sp>
      <p:sp>
        <p:nvSpPr>
          <p:cNvPr id="12" name="step2-title">
            <a:extLst xmlns:a="http://schemas.openxmlformats.org/drawingml/2006/main">
              <a:ext uri="{FF2B5EF4-FFF2-40B4-BE49-F238E27FC236}">
                <a16:creationId xmlns:a16="http://schemas.microsoft.com/office/drawing/2014/main" id="{8EDD05F5-4B7D-4289-9F75-8C54E5C7D9ED}"/>
              </a:ext>
            </a:extLst>
          </p:cNvPr>
          <p:cNvSpPr>
            <a:spLocks xmlns:a="http://schemas.openxmlformats.org/drawingml/2006/main" noGrp="1"/>
          </p:cNvSpPr>
          <p:nvPr/>
        </p:nvSpPr>
        <p:spPr>
          <a:xfrm xmlns:a="http://schemas.openxmlformats.org/drawingml/2006/main">
            <a:off x="6638925" y="3448050"/>
            <a:ext cx="4914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82D35"/>
                </a:solidFill>
                <a:latin typeface="Arial"/>
                <a:ea typeface="Arial"/>
                <a:cs typeface="Arial"/>
              </a:defRPr>
            </a:defPPr>
          </a:lstStyle>
          <a:p xmlns:a="http://schemas.openxmlformats.org/drawingml/2006/main">
            <a:pPr>
              <a:defRPr sz="2025" b="1">
                <a:solidFill>
                  <a:srgbClr val="182D35"/>
                </a:solidFill>
                <a:latin typeface="Arial"/>
                <a:ea typeface="Arial"/>
                <a:cs typeface="Arial"/>
              </a:defRPr>
            </a:pPr>
            <a:r>
              <a:rPr sz="2025" b="1">
                <a:solidFill>
                  <a:srgbClr val="182D35"/>
                </a:solidFill>
                <a:latin typeface="Arial"/>
                <a:ea typeface="Arial"/>
                <a:cs typeface="Arial"/>
              </a:rPr>
              <a:t>AI selects the relevant sources</a:t>
            </a:r>
          </a:p>
        </p:txBody>
      </p:sp>
      <p:sp>
        <p:nvSpPr>
          <p:cNvPr id="13" name="step2-body">
            <a:extLst xmlns:a="http://schemas.openxmlformats.org/drawingml/2006/main">
              <a:ext uri="{FF2B5EF4-FFF2-40B4-BE49-F238E27FC236}">
                <a16:creationId xmlns:a16="http://schemas.microsoft.com/office/drawing/2014/main" id="{792A3DAA-1143-4835-B3FD-251E70DBF613}"/>
              </a:ext>
            </a:extLst>
          </p:cNvPr>
          <p:cNvSpPr>
            <a:spLocks xmlns:a="http://schemas.openxmlformats.org/drawingml/2006/main" noGrp="1"/>
          </p:cNvSpPr>
          <p:nvPr/>
        </p:nvSpPr>
        <p:spPr>
          <a:xfrm xmlns:a="http://schemas.openxmlformats.org/drawingml/2006/main">
            <a:off x="6638925" y="3848100"/>
            <a:ext cx="4914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3575E"/>
                </a:solidFill>
                <a:latin typeface="Arial"/>
                <a:ea typeface="Arial"/>
                <a:cs typeface="Arial"/>
              </a:defRPr>
            </a:defPPr>
          </a:lstStyle>
          <a:p xmlns:a="http://schemas.openxmlformats.org/drawingml/2006/main">
            <a:pPr>
              <a:defRPr sz="1800" b="0">
                <a:solidFill>
                  <a:srgbClr val="43575E"/>
                </a:solidFill>
                <a:latin typeface="Arial"/>
                <a:ea typeface="Arial"/>
                <a:cs typeface="Arial"/>
              </a:defRPr>
            </a:pPr>
            <a:r>
              <a:rPr sz="1800" b="0">
                <a:solidFill>
                  <a:srgbClr val="43575E"/>
                </a:solidFill>
                <a:latin typeface="Arial"/>
                <a:ea typeface="Arial"/>
                <a:cs typeface="Arial"/>
              </a:rPr>
              <a:t>Safety, Maintenance, Quality or Operations.</a:t>
            </a:r>
          </a:p>
        </p:txBody>
      </p:sp>
      <p:sp>
        <p:nvSpPr>
          <p:cNvPr id="14" name="step3-number">
            <a:extLst xmlns:a="http://schemas.openxmlformats.org/drawingml/2006/main">
              <a:ext uri="{FF2B5EF4-FFF2-40B4-BE49-F238E27FC236}">
                <a16:creationId xmlns:a16="http://schemas.microsoft.com/office/drawing/2014/main" id="{A38E9A3A-DD8C-4815-8968-5F9B8E86B902}"/>
              </a:ext>
            </a:extLst>
          </p:cNvPr>
          <p:cNvSpPr>
            <a:spLocks xmlns:a="http://schemas.openxmlformats.org/drawingml/2006/main" noGrp="1"/>
          </p:cNvSpPr>
          <p:nvPr/>
        </p:nvSpPr>
        <p:spPr>
          <a:xfrm xmlns:a="http://schemas.openxmlformats.org/drawingml/2006/main">
            <a:off x="5953125" y="4362450"/>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B776D"/>
                </a:solidFill>
                <a:latin typeface="Arial"/>
                <a:ea typeface="Arial"/>
                <a:cs typeface="Arial"/>
              </a:defRPr>
            </a:defPPr>
          </a:lstStyle>
          <a:p xmlns:a="http://schemas.openxmlformats.org/drawingml/2006/main">
            <a:pPr>
              <a:defRPr sz="2025" b="1">
                <a:solidFill>
                  <a:srgbClr val="0B776D"/>
                </a:solidFill>
                <a:latin typeface="Arial"/>
                <a:ea typeface="Arial"/>
                <a:cs typeface="Arial"/>
              </a:defRPr>
            </a:pPr>
            <a:r>
              <a:rPr sz="2025" b="1">
                <a:solidFill>
                  <a:srgbClr val="0B776D"/>
                </a:solidFill>
                <a:latin typeface="Arial"/>
                <a:ea typeface="Arial"/>
                <a:cs typeface="Arial"/>
              </a:rPr>
              <a:t>03</a:t>
            </a:r>
          </a:p>
        </p:txBody>
      </p:sp>
      <p:sp>
        <p:nvSpPr>
          <p:cNvPr id="15" name="step3-title">
            <a:extLst xmlns:a="http://schemas.openxmlformats.org/drawingml/2006/main">
              <a:ext uri="{FF2B5EF4-FFF2-40B4-BE49-F238E27FC236}">
                <a16:creationId xmlns:a16="http://schemas.microsoft.com/office/drawing/2014/main" id="{4B12F490-ECE8-4D68-8DC8-824BC9122E9B}"/>
              </a:ext>
            </a:extLst>
          </p:cNvPr>
          <p:cNvSpPr>
            <a:spLocks xmlns:a="http://schemas.openxmlformats.org/drawingml/2006/main" noGrp="1"/>
          </p:cNvSpPr>
          <p:nvPr/>
        </p:nvSpPr>
        <p:spPr>
          <a:xfrm xmlns:a="http://schemas.openxmlformats.org/drawingml/2006/main">
            <a:off x="6638925" y="4333875"/>
            <a:ext cx="4914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82D35"/>
                </a:solidFill>
                <a:latin typeface="Arial"/>
                <a:ea typeface="Arial"/>
                <a:cs typeface="Arial"/>
              </a:defRPr>
            </a:defPPr>
          </a:lstStyle>
          <a:p xmlns:a="http://schemas.openxmlformats.org/drawingml/2006/main">
            <a:pPr>
              <a:defRPr sz="2025" b="1">
                <a:solidFill>
                  <a:srgbClr val="182D35"/>
                </a:solidFill>
                <a:latin typeface="Arial"/>
                <a:ea typeface="Arial"/>
                <a:cs typeface="Arial"/>
              </a:defRPr>
            </a:pPr>
            <a:r>
              <a:rPr sz="2025" b="1">
                <a:solidFill>
                  <a:srgbClr val="182D35"/>
                </a:solidFill>
                <a:latin typeface="Arial"/>
                <a:ea typeface="Arial"/>
                <a:cs typeface="Arial"/>
              </a:rPr>
              <a:t>Review an answer with citations</a:t>
            </a:r>
          </a:p>
        </p:txBody>
      </p:sp>
      <p:sp>
        <p:nvSpPr>
          <p:cNvPr id="16" name="step3-body">
            <a:extLst xmlns:a="http://schemas.openxmlformats.org/drawingml/2006/main">
              <a:ext uri="{FF2B5EF4-FFF2-40B4-BE49-F238E27FC236}">
                <a16:creationId xmlns:a16="http://schemas.microsoft.com/office/drawing/2014/main" id="{6C8D2C80-3B2C-4369-AE85-4480C7BBABF8}"/>
              </a:ext>
            </a:extLst>
          </p:cNvPr>
          <p:cNvSpPr>
            <a:spLocks xmlns:a="http://schemas.openxmlformats.org/drawingml/2006/main" noGrp="1"/>
          </p:cNvSpPr>
          <p:nvPr/>
        </p:nvSpPr>
        <p:spPr>
          <a:xfrm xmlns:a="http://schemas.openxmlformats.org/drawingml/2006/main">
            <a:off x="6638925" y="4733925"/>
            <a:ext cx="4914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3575E"/>
                </a:solidFill>
                <a:latin typeface="Arial"/>
                <a:ea typeface="Arial"/>
                <a:cs typeface="Arial"/>
              </a:defRPr>
            </a:defPPr>
          </a:lstStyle>
          <a:p xmlns:a="http://schemas.openxmlformats.org/drawingml/2006/main">
            <a:pPr>
              <a:defRPr sz="1800" b="0">
                <a:solidFill>
                  <a:srgbClr val="43575E"/>
                </a:solidFill>
                <a:latin typeface="Arial"/>
                <a:ea typeface="Arial"/>
                <a:cs typeface="Arial"/>
              </a:defRPr>
            </a:pPr>
            <a:r>
              <a:rPr sz="1800" b="0">
                <a:solidFill>
                  <a:srgbClr val="43575E"/>
                </a:solidFill>
                <a:latin typeface="Arial"/>
                <a:ea typeface="Arial"/>
                <a:cs typeface="Arial"/>
              </a:rPr>
              <a:t>Open the quoted source to verify the guidance.</a:t>
            </a:r>
          </a:p>
        </p:txBody>
      </p:sp>
      <p:sp>
        <p:nvSpPr>
          <p:cNvPr id="17" name="pilot-heading">
            <a:extLst xmlns:a="http://schemas.openxmlformats.org/drawingml/2006/main">
              <a:ext uri="{FF2B5EF4-FFF2-40B4-BE49-F238E27FC236}">
                <a16:creationId xmlns:a16="http://schemas.microsoft.com/office/drawing/2014/main" id="{79928E8F-670A-45F4-AA34-579D7B761B8E}"/>
              </a:ext>
            </a:extLst>
          </p:cNvPr>
          <p:cNvSpPr>
            <a:spLocks xmlns:a="http://schemas.openxmlformats.org/drawingml/2006/main" noGrp="1"/>
          </p:cNvSpPr>
          <p:nvPr/>
        </p:nvSpPr>
        <p:spPr>
          <a:xfrm xmlns:a="http://schemas.openxmlformats.org/drawingml/2006/main">
            <a:off x="590550" y="556260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0B776D"/>
                </a:solidFill>
                <a:latin typeface="Arial"/>
                <a:ea typeface="Arial"/>
                <a:cs typeface="Arial"/>
              </a:defRPr>
            </a:defPPr>
          </a:lstStyle>
          <a:p xmlns:a="http://schemas.openxmlformats.org/drawingml/2006/main">
            <a:pPr>
              <a:defRPr sz="1875" b="1">
                <a:solidFill>
                  <a:srgbClr val="0B776D"/>
                </a:solidFill>
                <a:latin typeface="Arial"/>
                <a:ea typeface="Arial"/>
                <a:cs typeface="Arial"/>
              </a:defRPr>
            </a:pPr>
            <a:r>
              <a:rPr sz="1875" b="1">
                <a:solidFill>
                  <a:srgbClr val="0B776D"/>
                </a:solidFill>
                <a:latin typeface="Arial"/>
                <a:ea typeface="Arial"/>
                <a:cs typeface="Arial"/>
              </a:rPr>
              <a:t>Proposed next step</a:t>
            </a:r>
          </a:p>
        </p:txBody>
      </p:sp>
      <p:sp>
        <p:nvSpPr>
          <p:cNvPr id="18" name="pilot">
            <a:extLst xmlns:a="http://schemas.openxmlformats.org/drawingml/2006/main">
              <a:ext uri="{FF2B5EF4-FFF2-40B4-BE49-F238E27FC236}">
                <a16:creationId xmlns:a16="http://schemas.microsoft.com/office/drawing/2014/main" id="{019BC33F-9D98-46CB-A426-D1CC47A9C426}"/>
              </a:ext>
            </a:extLst>
          </p:cNvPr>
          <p:cNvSpPr>
            <a:spLocks xmlns:a="http://schemas.openxmlformats.org/drawingml/2006/main" noGrp="1"/>
          </p:cNvSpPr>
          <p:nvPr/>
        </p:nvSpPr>
        <p:spPr>
          <a:xfrm xmlns:a="http://schemas.openxmlformats.org/drawingml/2006/main">
            <a:off x="3238500" y="5534025"/>
            <a:ext cx="8334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82D35"/>
                </a:solidFill>
                <a:latin typeface="Arial"/>
                <a:ea typeface="Arial"/>
                <a:cs typeface="Arial"/>
              </a:defRPr>
            </a:defPPr>
          </a:lstStyle>
          <a:p xmlns:a="http://schemas.openxmlformats.org/drawingml/2006/main">
            <a:pPr>
              <a:defRPr sz="1875" b="0">
                <a:solidFill>
                  <a:srgbClr val="182D35"/>
                </a:solidFill>
                <a:latin typeface="Arial"/>
                <a:ea typeface="Arial"/>
                <a:cs typeface="Arial"/>
              </a:defRPr>
            </a:pPr>
            <a:r>
              <a:rPr sz="1875" b="0">
                <a:solidFill>
                  <a:srgbClr val="182D35"/>
                </a:solidFill>
                <a:latin typeface="Arial"/>
                <a:ea typeface="Arial"/>
                <a:cs typeface="Arial"/>
              </a:rPr>
              <a:t>A supervised pilot using approved plant documents.</a:t>
            </a:r>
          </a:p>
          <a:p xmlns:a="http://schemas.openxmlformats.org/drawingml/2006/main">
            <a:pPr>
              <a:defRPr sz="1875" b="0">
                <a:solidFill>
                  <a:srgbClr val="182D35"/>
                </a:solidFill>
                <a:latin typeface="Arial"/>
                <a:ea typeface="Arial"/>
                <a:cs typeface="Arial"/>
              </a:defRPr>
            </a:pPr>
            <a:r>
              <a:rPr sz="1875" b="0">
                <a:solidFill>
                  <a:srgbClr val="182D35"/>
                </a:solidFill>
                <a:latin typeface="Arial"/>
                <a:ea typeface="Arial"/>
                <a:cs typeface="Arial"/>
              </a:rPr>
              <a:t>Measure search time and expert-reviewed answer accuracy.</a:t>
            </a:r>
          </a:p>
        </p:txBody>
      </p:sp>
      <p:sp>
        <p:nvSpPr>
          <p:cNvPr id="19" name="disclosure">
            <a:extLst xmlns:a="http://schemas.openxmlformats.org/drawingml/2006/main">
              <a:ext uri="{FF2B5EF4-FFF2-40B4-BE49-F238E27FC236}">
                <a16:creationId xmlns:a16="http://schemas.microsoft.com/office/drawing/2014/main" id="{DEFFA8BD-E046-4C4F-8B02-C29BCE7DAAF0}"/>
              </a:ext>
            </a:extLst>
          </p:cNvPr>
          <p:cNvSpPr>
            <a:spLocks xmlns:a="http://schemas.openxmlformats.org/drawingml/2006/main" noGrp="1"/>
          </p:cNvSpPr>
          <p:nvPr/>
        </p:nvSpPr>
        <p:spPr>
          <a:xfrm xmlns:a="http://schemas.openxmlformats.org/drawingml/2006/main">
            <a:off x="590550" y="6419850"/>
            <a:ext cx="11029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6666B"/>
                </a:solidFill>
                <a:latin typeface="Arial"/>
                <a:ea typeface="Arial"/>
                <a:cs typeface="Arial"/>
              </a:defRPr>
            </a:defPPr>
          </a:lstStyle>
          <a:p xmlns:a="http://schemas.openxmlformats.org/drawingml/2006/main">
            <a:pPr>
              <a:defRPr sz="1350" b="0">
                <a:solidFill>
                  <a:srgbClr val="56666B"/>
                </a:solidFill>
                <a:latin typeface="Arial"/>
                <a:ea typeface="Arial"/>
                <a:cs typeface="Arial"/>
              </a:defRPr>
            </a:pPr>
            <a:r>
              <a:rPr sz="1350" b="0">
                <a:solidFill>
                  <a:srgbClr val="56666B"/>
                </a:solidFill>
                <a:latin typeface="Arial"/>
                <a:ea typeface="Arial"/>
                <a:cs typeface="Arial"/>
              </a:rPr>
              <a:t>Prototype: 12 fictional documents. Answer-support and safety gaps remain. Resolve them before plant use.</a:t>
            </a:r>
          </a:p>
        </p:txBody>
      </p:sp>
    </p:spTree>
    <p:extLst>
      <p:ext uri="{BB962C8B-B14F-4D97-AF65-F5344CB8AC3E}">
        <p14:creationId xmlns:p14="http://schemas.microsoft.com/office/powerpoint/2010/main" val="20186608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2026-10-09T19:32:11.4530000Z</dcterms:created>
  <dcterms:modified xsi:type="dcterms:W3CDTF">2026-10-09T19:32:11.4530000Z</dcterms:modified>
</coreProperties>
</file>
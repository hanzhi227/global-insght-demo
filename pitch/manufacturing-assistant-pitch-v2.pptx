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aead287af64094" /><Relationship Type="http://schemas.openxmlformats.org/officeDocument/2006/relationships/extended-properties" Target="/docProps/app.xml" Id="R394ed2ac16134ffc" /><Relationship Type="http://schemas.openxmlformats.org/officeDocument/2006/relationships/officeDocument" Target="/ppt/presentation.xml" Id="R240dd16006334c67" /></Relationships>
</file>

<file path=ppt/presentation.xml><?xml version="1.0" encoding="utf-8"?>
<p:presentation xmlns:p="http://schemas.openxmlformats.org/presentationml/2006/main">
  <p:sldMasterIdLst>
    <p:sldMasterId xmlns:r="http://schemas.openxmlformats.org/officeDocument/2006/relationships" id="2147483648" r:id="R3f55ca2b648e4150"/>
  </p:sldMasterIdLst>
  <p:notesMasterIdLst>
    <p:notesMasterId xmlns:r="http://schemas.openxmlformats.org/officeDocument/2006/relationships" r:id="R00b5141fc9964308"/>
  </p:notesMasterIdLst>
  <p:sldIdLst>
    <p:sldId xmlns:r="http://schemas.openxmlformats.org/officeDocument/2006/relationships" id="256" r:id="R2e99ec4701d14d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e37d8599394808" /><Relationship Type="http://schemas.openxmlformats.org/officeDocument/2006/relationships/slideMaster" Target="/ppt/slideMasters/slideMaster1.xml" Id="R3f55ca2b648e4150" /><Relationship Type="http://schemas.openxmlformats.org/officeDocument/2006/relationships/notesMaster" Target="/ppt/notesMasters/notesMaster1.xml" Id="R00b5141fc9964308" /><Relationship Type="http://schemas.openxmlformats.org/officeDocument/2006/relationships/presProps" Target="/ppt/presProps.xml" Id="R8d7e4d8403884f5c" /><Relationship Type="http://schemas.openxmlformats.org/officeDocument/2006/relationships/tableStyles" Target="/ppt/tableStyles.xml" Id="R4acc125fa10e45ee" /><Relationship Type="http://schemas.openxmlformats.org/officeDocument/2006/relationships/slide" Target="/ppt/slides/slide1.xml" Id="R2e99ec4701d14d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5d47b05ab848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ae5235fcb64934" /><Relationship Type="http://schemas.openxmlformats.org/officeDocument/2006/relationships/notesMaster" Target="/ppt/notesMasters/notesMaster1.xml" Id="R518566134ca244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(about one minute):</a:t>
            </a:r>
          </a:p>
          <a:p xmlns:a="http://schemas.openxmlformats.org/drawingml/2006/main">
            <a:r>
              <a:t>A supervisor's question can span multiple manuals. This assistant accepts a plain-language question, routes it to the relevant categories and returns concise guidance with exact source quotations. The intended value is less time searching, with evidence supervisors can check before acting. Here is an illustrative example drawn directly from the fictional source document: QUA-002 says, “Quality alone may release held product.” The document revision, section and line make that answer traceable. This slide's example is authored from the source, not a captured live model response.</a:t>
            </a:r>
          </a:p>
          <a:p xmlns:a="http://schemas.openxmlformats.org/drawingml/2006/main">
            <a:r>
              <a:t/>
            </a:r>
          </a:p>
          <a:p xmlns:a="http://schemas.openxmlformats.org/drawingml/2006/main">
            <a:r>
              <a:t>Guardrails: the application screens input and output for unsafe assistance, validates citation IDs and exact quote matches against retrieved passages, and makes a separate model call to check answer support. It replaces drafts that fail support checks with insufficient-evidence responses. Ambiguous questions prompt clarification; missing category evidence causes abstention. The app is read-only with an operator-curated shared corpus, and public uploads are disabled. These controls reduce risk but do not guarantee accuracy or safety.</a:t>
            </a:r>
          </a:p>
          <a:p xmlns:a="http://schemas.openxmlformats.org/drawingml/2006/main">
            <a:r>
              <a:t/>
            </a:r>
          </a:p>
          <a:p xmlns:a="http://schemas.openxmlformats.org/drawingml/2006/main">
            <a:r>
              <a:t>Proposal: resolve current support and guard failures, complete seeded-corpus HTTP acceptance, then evaluate a supervised pilot with approved, appropriately scrubbed plant documents. Measure supervisor search time against the current process and expert-reviewed answer support. Authentication and access control are prerequisites for confidential documents. Business value remains a hypothesis, with no measured time savings or production accuracy claim.</a:t>
            </a:r>
          </a:p>
          <a:p xmlns:a="http://schemas.openxmlformats.org/drawingml/2006/main">
            <a:r>
              <a:t/>
            </a:r>
          </a:p>
          <a:p xmlns:a="http://schemas.openxmlformats.org/drawingml/2006/main">
            <a:r>
              <a:t>Known limitations: no authentication; all visitors share a public demo corpus. Latest recorded automated local evaluation: 23/25 with release gate failing. Agent review found 12/14 supported answers; unsafe-query rejection was 8/9. These synthetic development cases do not estimate production accuracy. The verifier uses the same configured chat model and is not independent factual certification.</a:t>
            </a:r>
          </a:p>
          <a:p xmlns:a="http://schemas.openxmlformats.org/drawingml/2006/main">
            <a:r>
              <a:t/>
            </a:r>
          </a:p>
          <a:p xmlns:a="http://schemas.openxmlformats.org/drawingml/2006/main">
            <a:r>
              <a:t>Sources, read October 9, 2026:</a:t>
            </a:r>
          </a:p>
          <a:p xmlns:a="http://schemas.openxmlformats.org/drawingml/2006/main">
            <a:r>
              <a:t>[1] /Users/hanzh/Dev/Projects/global-insight-demo/public/demo/quality/qua-002.md, revision 3, effective 2026-09-01, Section 1, line 14. Exact quote: Quality alone may release held product.</a:t>
            </a:r>
          </a:p>
          <a:p xmlns:a="http://schemas.openxmlformats.org/drawingml/2006/main">
            <a:r>
              <a:t>[2] /Users/hanzh/Dev/Projects/global-insight-demo/README.md; /Users/hanzh/Dev/Projects/global-insight-demo/src/server/workflow/index.ts; /Users/hanzh/Dev/Projects/global-insight-demo/src/server/guardrails/index.ts; /Users/hanzh/Dev/Projects/global-insight-demo/src/server/verification/index.ts.</a:t>
            </a:r>
          </a:p>
          <a:p xmlns:a="http://schemas.openxmlformats.org/drawingml/2006/main">
            <a:r>
              <a:t>Evaluation limitations: /Users/hanzh/Dev/Projects/global-insight-demo/evals/RESULTS.md.</a:t>
            </a:r>
          </a:p>
          <a:p xmlns:a="http://schemas.openxmlformats.org/drawingml/2006/main">
            <a:r>
              <a:t>Design reference: Design Report reference.docx (white background, black Helvetica Neue typography, gray secondary text), adapted to a single landscape PowerPoint slide at user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0628ea880f4b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931792c6d644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d3d64ead014c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4e45f9213f4c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7c9af65d5e4f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5269aa164d44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7826D3-8AFE-43DE-858C-22F3105618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899E24-30A7-4752-AD50-2879A46062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A94560-3829-4E9F-BAE9-232785A313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CCEA86-EDD6-42CA-A22C-D1FD682A4B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FE3327-89EE-452B-98A3-81DCFDEE37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6BC7C8-AA4D-4BB8-9007-862B8F5356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FEFAAA-6A91-43B5-8732-51402E8100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7F47AA-7F68-4887-B0CB-818A5BD53A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5B771A-149F-4CC4-8162-0355B02D4F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F115F1-06BC-4FA5-9C79-829DFF9576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95d371ee59496b" /><Relationship Type="http://schemas.openxmlformats.org/officeDocument/2006/relationships/slideLayout" Target="/ppt/slideLayouts/slideLayout1.xml" Id="R197c0f4bd9ba4cb8" /><Relationship Type="http://schemas.openxmlformats.org/officeDocument/2006/relationships/slideLayout" Target="/ppt/slideLayouts/slideLayout2.xml" Id="Rb2144ca2731e4439" /><Relationship Type="http://schemas.openxmlformats.org/officeDocument/2006/relationships/slideLayout" Target="/ppt/slideLayouts/slideLayout3.xml" Id="R2103523a45d2414b" /><Relationship Type="http://schemas.openxmlformats.org/officeDocument/2006/relationships/slideLayout" Target="/ppt/slideLayouts/slideLayout4.xml" Id="R37401b465d164b0c" /><Relationship Type="http://schemas.openxmlformats.org/officeDocument/2006/relationships/slideLayout" Target="/ppt/slideLayouts/slideLayout5.xml" Id="Ref725140dd82498b" /><Relationship Type="http://schemas.openxmlformats.org/officeDocument/2006/relationships/slideLayout" Target="/ppt/slideLayouts/slideLayout6.xml" Id="R99dc79c19e4a48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7c0f4bd9ba4cb8"/>
    <p:sldLayoutId xmlns:r="http://schemas.openxmlformats.org/officeDocument/2006/relationships" id="2147483650" r:id="Rb2144ca2731e4439"/>
    <p:sldLayoutId xmlns:r="http://schemas.openxmlformats.org/officeDocument/2006/relationships" id="2147483651" r:id="R2103523a45d2414b"/>
    <p:sldLayoutId xmlns:r="http://schemas.openxmlformats.org/officeDocument/2006/relationships" id="2147483652" r:id="R37401b465d164b0c"/>
    <p:sldLayoutId xmlns:r="http://schemas.openxmlformats.org/officeDocument/2006/relationships" id="2147483653" r:id="Ref725140dd82498b"/>
    <p:sldLayoutId xmlns:r="http://schemas.openxmlformats.org/officeDocument/2006/relationships" id="2147483654" r:id="R99dc79c19e4a48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791b64b46149fb" /><Relationship Type="http://schemas.openxmlformats.org/officeDocument/2006/relationships/notesSlide" Target="/ppt/notesSlides/notesSlide1.xml" Id="R679a3cf895ec4d3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8676A01C-8290-41CE-A6E6-AEBEA1A4036A}"/>
              </a:ext>
            </a:extLst>
          </p:cNvPr>
          <p:cNvSpPr>
            <a:spLocks xmlns:a="http://schemas.openxmlformats.org/drawingml/2006/main" noGrp="1"/>
          </p:cNvSpPr>
          <p:nvPr/>
        </p:nvSpPr>
        <p:spPr>
          <a:xfrm xmlns:a="http://schemas.openxmlformats.org/drawingml/2006/main">
            <a:off x="552450" y="293465"/>
            <a:ext cx="11096625" cy="6257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000000"/>
                </a:solidFill>
                <a:latin typeface="Helvetica Neue"/>
                <a:ea typeface="Helvetica Neue"/>
                <a:cs typeface="Helvetica Neue"/>
              </a:defRPr>
            </a:defPPr>
          </a:lstStyle>
          <a:p xmlns:a="http://schemas.openxmlformats.org/drawingml/2006/main">
            <a:pPr>
              <a:buNone/>
              <a:defRPr sz="4200" b="1">
                <a:solidFill>
                  <a:srgbClr val="000000"/>
                </a:solidFill>
                <a:latin typeface="Helvetica Neue"/>
                <a:ea typeface="Helvetica Neue"/>
                <a:cs typeface="Helvetica Neue"/>
              </a:defRPr>
            </a:pPr>
            <a:r>
              <a:rPr sz="4200" b="1">
                <a:solidFill>
                  <a:srgbClr val="000000"/>
                </a:solidFill>
                <a:latin typeface="Helvetica Neue"/>
                <a:ea typeface="Helvetica Neue"/>
                <a:cs typeface="Helvetica Neue"/>
              </a:rPr>
              <a:t>Plant answers you can check</a:t>
            </a:r>
          </a:p>
        </p:txBody>
      </p:sp>
      <p:sp>
        <p:nvSpPr>
          <p:cNvPr id="2" name="Subtitle">
            <a:extLst xmlns:a="http://schemas.openxmlformats.org/drawingml/2006/main">
              <a:ext uri="{FF2B5EF4-FFF2-40B4-BE49-F238E27FC236}">
                <a16:creationId xmlns:a16="http://schemas.microsoft.com/office/drawing/2014/main" id="{D8302A84-8767-48E0-9649-758692084051}"/>
              </a:ext>
            </a:extLst>
          </p:cNvPr>
          <p:cNvSpPr>
            <a:spLocks xmlns:a="http://schemas.openxmlformats.org/drawingml/2006/main" noGrp="1"/>
          </p:cNvSpPr>
          <p:nvPr/>
        </p:nvSpPr>
        <p:spPr>
          <a:xfrm xmlns:a="http://schemas.openxmlformats.org/drawingml/2006/main">
            <a:off x="571500" y="933069"/>
            <a:ext cx="10906125" cy="3686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95959"/>
                </a:solidFill>
                <a:latin typeface="Helvetica Neue"/>
                <a:ea typeface="Helvetica Neue"/>
                <a:cs typeface="Helvetica Neue"/>
              </a:defRPr>
            </a:defPPr>
          </a:lstStyle>
          <a:p xmlns:a="http://schemas.openxmlformats.org/drawingml/2006/main">
            <a:pPr>
              <a:buNone/>
              <a:defRPr sz="2025" b="0">
                <a:solidFill>
                  <a:srgbClr val="595959"/>
                </a:solidFill>
                <a:latin typeface="Helvetica Neue"/>
                <a:ea typeface="Helvetica Neue"/>
                <a:cs typeface="Helvetica Neue"/>
              </a:defRPr>
            </a:pPr>
            <a:r>
              <a:rPr sz="2025" b="0">
                <a:solidFill>
                  <a:srgbClr val="595959"/>
                </a:solidFill>
                <a:latin typeface="Helvetica Neue"/>
                <a:ea typeface="Helvetica Neue"/>
                <a:cs typeface="Helvetica Neue"/>
              </a:rPr>
              <a:t>AI routes supervisors’ questions to the right manuals and shows the evidence.</a:t>
            </a:r>
          </a:p>
        </p:txBody>
      </p:sp>
      <p:sp>
        <p:nvSpPr>
          <p:cNvPr id="3" name="Value heading">
            <a:extLst xmlns:a="http://schemas.openxmlformats.org/drawingml/2006/main">
              <a:ext uri="{FF2B5EF4-FFF2-40B4-BE49-F238E27FC236}">
                <a16:creationId xmlns:a16="http://schemas.microsoft.com/office/drawing/2014/main" id="{449A5E1B-D466-4051-B1FA-03FF34319733}"/>
              </a:ext>
            </a:extLst>
          </p:cNvPr>
          <p:cNvSpPr>
            <a:spLocks xmlns:a="http://schemas.openxmlformats.org/drawingml/2006/main" noGrp="1"/>
          </p:cNvSpPr>
          <p:nvPr/>
        </p:nvSpPr>
        <p:spPr>
          <a:xfrm xmlns:a="http://schemas.openxmlformats.org/drawingml/2006/main">
            <a:off x="571500" y="1693069"/>
            <a:ext cx="388620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0000"/>
                </a:solidFill>
                <a:latin typeface="Helvetica Neue"/>
                <a:ea typeface="Helvetica Neue"/>
                <a:cs typeface="Helvetica Neue"/>
              </a:defRPr>
            </a:defPPr>
          </a:lstStyle>
          <a:p xmlns:a="http://schemas.openxmlformats.org/drawingml/2006/main">
            <a:pPr>
              <a:buNone/>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Less time searching</a:t>
            </a:r>
          </a:p>
        </p:txBody>
      </p:sp>
      <p:sp>
        <p:nvSpPr>
          <p:cNvPr id="4" name="Value description">
            <a:extLst xmlns:a="http://schemas.openxmlformats.org/drawingml/2006/main">
              <a:ext uri="{FF2B5EF4-FFF2-40B4-BE49-F238E27FC236}">
                <a16:creationId xmlns:a16="http://schemas.microsoft.com/office/drawing/2014/main" id="{E1B37D66-DD8D-4A3B-B8E3-B3A2A43D570B}"/>
              </a:ext>
            </a:extLst>
          </p:cNvPr>
          <p:cNvSpPr>
            <a:spLocks xmlns:a="http://schemas.openxmlformats.org/drawingml/2006/main" noGrp="1"/>
          </p:cNvSpPr>
          <p:nvPr/>
        </p:nvSpPr>
        <p:spPr>
          <a:xfrm xmlns:a="http://schemas.openxmlformats.org/drawingml/2006/main">
            <a:off x="571500" y="2144554"/>
            <a:ext cx="3829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333333"/>
                </a:solidFill>
                <a:latin typeface="Helvetica Neue"/>
                <a:ea typeface="Helvetica Neue"/>
                <a:cs typeface="Helvetica Neue"/>
              </a:defRPr>
            </a:defPPr>
          </a:lstStyle>
          <a:p xmlns:a="http://schemas.openxmlformats.org/drawingml/2006/main">
            <a:pPr>
              <a:buNone/>
              <a:defRPr sz="2025" b="0">
                <a:solidFill>
                  <a:srgbClr val="333333"/>
                </a:solidFill>
                <a:latin typeface="Helvetica Neue"/>
                <a:ea typeface="Helvetica Neue"/>
                <a:cs typeface="Helvetica Neue"/>
              </a:defRPr>
            </a:pPr>
            <a:r>
              <a:rPr sz="2025" b="0">
                <a:solidFill>
                  <a:srgbClr val="333333"/>
                </a:solidFill>
                <a:latin typeface="Helvetica Neue"/>
                <a:ea typeface="Helvetica Neue"/>
                <a:cs typeface="Helvetica Neue"/>
              </a:rPr>
              <a:t>Ask one question across Safety, Maintenance, Quality and Operations.</a:t>
            </a:r>
          </a:p>
        </p:txBody>
      </p:sp>
      <p:sp>
        <p:nvSpPr>
          <p:cNvPr id="5" name="Value implication">
            <a:extLst xmlns:a="http://schemas.openxmlformats.org/drawingml/2006/main">
              <a:ext uri="{FF2B5EF4-FFF2-40B4-BE49-F238E27FC236}">
                <a16:creationId xmlns:a16="http://schemas.microsoft.com/office/drawing/2014/main" id="{294D8FB2-4AE9-41D4-855E-92EA55715DAB}"/>
              </a:ext>
            </a:extLst>
          </p:cNvPr>
          <p:cNvSpPr>
            <a:spLocks xmlns:a="http://schemas.openxmlformats.org/drawingml/2006/main" noGrp="1"/>
          </p:cNvSpPr>
          <p:nvPr/>
        </p:nvSpPr>
        <p:spPr>
          <a:xfrm xmlns:a="http://schemas.openxmlformats.org/drawingml/2006/main">
            <a:off x="571500" y="3295841"/>
            <a:ext cx="3848100" cy="7115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333333"/>
                </a:solidFill>
                <a:latin typeface="Helvetica Neue"/>
                <a:ea typeface="Helvetica Neue"/>
                <a:cs typeface="Helvetica Neue"/>
              </a:defRPr>
            </a:defPPr>
          </a:lstStyle>
          <a:p xmlns:a="http://schemas.openxmlformats.org/drawingml/2006/main">
            <a:pPr>
              <a:buNone/>
              <a:defRPr sz="1950" b="0">
                <a:solidFill>
                  <a:srgbClr val="333333"/>
                </a:solidFill>
                <a:latin typeface="Helvetica Neue"/>
                <a:ea typeface="Helvetica Neue"/>
                <a:cs typeface="Helvetica Neue"/>
              </a:defRPr>
            </a:pPr>
            <a:r>
              <a:rPr sz="1950" b="0">
                <a:solidFill>
                  <a:srgbClr val="333333"/>
                </a:solidFill>
                <a:latin typeface="Helvetica Neue"/>
                <a:ea typeface="Helvetica Neue"/>
                <a:cs typeface="Helvetica Neue"/>
              </a:rPr>
              <a:t>Check source quotes</a:t>
            </a:r>
          </a:p>
          <a:p xmlns:a="http://schemas.openxmlformats.org/drawingml/2006/main">
            <a:pPr>
              <a:buNone/>
              <a:defRPr sz="1950" b="0">
                <a:solidFill>
                  <a:srgbClr val="333333"/>
                </a:solidFill>
                <a:latin typeface="Helvetica Neue"/>
                <a:ea typeface="Helvetica Neue"/>
                <a:cs typeface="Helvetica Neue"/>
              </a:defRPr>
            </a:pPr>
            <a:r>
              <a:rPr sz="1950" b="0">
                <a:solidFill>
                  <a:srgbClr val="333333"/>
                </a:solidFill>
                <a:latin typeface="Helvetica Neue"/>
                <a:ea typeface="Helvetica Neue"/>
                <a:cs typeface="Helvetica Neue"/>
              </a:rPr>
              <a:t>before acting on guidance.</a:t>
            </a:r>
          </a:p>
        </p:txBody>
      </p:sp>
      <p:sp>
        <p:nvSpPr>
          <p:cNvPr id="6" name="Example label">
            <a:extLst xmlns:a="http://schemas.openxmlformats.org/drawingml/2006/main">
              <a:ext uri="{FF2B5EF4-FFF2-40B4-BE49-F238E27FC236}">
                <a16:creationId xmlns:a16="http://schemas.microsoft.com/office/drawing/2014/main" id="{7F64ADFF-0A00-49E3-B9F4-EC80339BD0C6}"/>
              </a:ext>
            </a:extLst>
          </p:cNvPr>
          <p:cNvSpPr>
            <a:spLocks xmlns:a="http://schemas.openxmlformats.org/drawingml/2006/main" noGrp="1"/>
          </p:cNvSpPr>
          <p:nvPr/>
        </p:nvSpPr>
        <p:spPr>
          <a:xfrm xmlns:a="http://schemas.openxmlformats.org/drawingml/2006/main">
            <a:off x="5095875" y="1632871"/>
            <a:ext cx="6429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95959"/>
                </a:solidFill>
                <a:latin typeface="Helvetica Neue"/>
                <a:ea typeface="Helvetica Neue"/>
                <a:cs typeface="Helvetica Neue"/>
              </a:defRPr>
            </a:defPPr>
          </a:lstStyle>
          <a:p xmlns:a="http://schemas.openxmlformats.org/drawingml/2006/main">
            <a:pPr>
              <a:buNone/>
              <a:defRPr sz="1500" b="0">
                <a:solidFill>
                  <a:srgbClr val="595959"/>
                </a:solidFill>
                <a:latin typeface="Helvetica Neue"/>
                <a:ea typeface="Helvetica Neue"/>
                <a:cs typeface="Helvetica Neue"/>
              </a:defRPr>
            </a:pPr>
            <a:r>
              <a:rPr sz="1500" b="0">
                <a:solidFill>
                  <a:srgbClr val="595959"/>
                </a:solidFill>
                <a:latin typeface="Helvetica Neue"/>
                <a:ea typeface="Helvetica Neue"/>
                <a:cs typeface="Helvetica Neue"/>
              </a:rPr>
              <a:t>Illustrative answer with source evidence</a:t>
            </a:r>
          </a:p>
        </p:txBody>
      </p:sp>
      <p:sp>
        <p:nvSpPr>
          <p:cNvPr id="7" name="Question">
            <a:extLst xmlns:a="http://schemas.openxmlformats.org/drawingml/2006/main">
              <a:ext uri="{FF2B5EF4-FFF2-40B4-BE49-F238E27FC236}">
                <a16:creationId xmlns:a16="http://schemas.microsoft.com/office/drawing/2014/main" id="{A58E8F1E-05A0-47BA-9FBE-2C5D0E51B9BC}"/>
              </a:ext>
            </a:extLst>
          </p:cNvPr>
          <p:cNvSpPr>
            <a:spLocks xmlns:a="http://schemas.openxmlformats.org/drawingml/2006/main" noGrp="1"/>
          </p:cNvSpPr>
          <p:nvPr/>
        </p:nvSpPr>
        <p:spPr>
          <a:xfrm xmlns:a="http://schemas.openxmlformats.org/drawingml/2006/main">
            <a:off x="5095875" y="1941386"/>
            <a:ext cx="6429375" cy="4029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595959"/>
                </a:solidFill>
                <a:latin typeface="Helvetica Neue"/>
                <a:ea typeface="Helvetica Neue"/>
                <a:cs typeface="Helvetica Neue"/>
              </a:defRPr>
            </a:defPPr>
          </a:lstStyle>
          <a:p xmlns:a="http://schemas.openxmlformats.org/drawingml/2006/main">
            <a:pPr>
              <a:buNone/>
              <a:defRPr sz="2325" b="0">
                <a:solidFill>
                  <a:srgbClr val="595959"/>
                </a:solidFill>
                <a:latin typeface="Helvetica Neue"/>
                <a:ea typeface="Helvetica Neue"/>
                <a:cs typeface="Helvetica Neue"/>
              </a:defRPr>
            </a:pPr>
            <a:r>
              <a:rPr sz="2325" b="0">
                <a:solidFill>
                  <a:srgbClr val="595959"/>
                </a:solidFill>
                <a:latin typeface="Helvetica Neue"/>
                <a:ea typeface="Helvetica Neue"/>
                <a:cs typeface="Helvetica Neue"/>
              </a:rPr>
              <a:t>Who can release held product?</a:t>
            </a:r>
          </a:p>
        </p:txBody>
      </p:sp>
      <p:sp>
        <p:nvSpPr>
          <p:cNvPr id="8" name="Answer">
            <a:extLst xmlns:a="http://schemas.openxmlformats.org/drawingml/2006/main">
              <a:ext uri="{FF2B5EF4-FFF2-40B4-BE49-F238E27FC236}">
                <a16:creationId xmlns:a16="http://schemas.microsoft.com/office/drawing/2014/main" id="{F3F3288D-D598-4C7C-BFF9-98FD2F6F7B04}"/>
              </a:ext>
            </a:extLst>
          </p:cNvPr>
          <p:cNvSpPr>
            <a:spLocks xmlns:a="http://schemas.openxmlformats.org/drawingml/2006/main" noGrp="1"/>
          </p:cNvSpPr>
          <p:nvPr/>
        </p:nvSpPr>
        <p:spPr>
          <a:xfrm xmlns:a="http://schemas.openxmlformats.org/drawingml/2006/main">
            <a:off x="5057775" y="2377821"/>
            <a:ext cx="6572250" cy="10629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000000"/>
                </a:solidFill>
                <a:latin typeface="Helvetica Neue"/>
                <a:ea typeface="Helvetica Neue"/>
                <a:cs typeface="Helvetica Neue"/>
              </a:defRPr>
            </a:defPPr>
          </a:lstStyle>
          <a:p xmlns:a="http://schemas.openxmlformats.org/drawingml/2006/main">
            <a:pPr>
              <a:buNone/>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“Quality alone may</a:t>
            </a:r>
          </a:p>
          <a:p xmlns:a="http://schemas.openxmlformats.org/drawingml/2006/main">
            <a:pPr>
              <a:buNone/>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release held product.”</a:t>
            </a:r>
          </a:p>
        </p:txBody>
      </p:sp>
      <p:sp>
        <p:nvSpPr>
          <p:cNvPr id="9" name="Source citation">
            <a:extLst xmlns:a="http://schemas.openxmlformats.org/drawingml/2006/main">
              <a:ext uri="{FF2B5EF4-FFF2-40B4-BE49-F238E27FC236}">
                <a16:creationId xmlns:a16="http://schemas.microsoft.com/office/drawing/2014/main" id="{FCDC5494-B7A8-463E-BA0E-463636CACDE3}"/>
              </a:ext>
            </a:extLst>
          </p:cNvPr>
          <p:cNvSpPr>
            <a:spLocks xmlns:a="http://schemas.openxmlformats.org/drawingml/2006/main" noGrp="1"/>
          </p:cNvSpPr>
          <p:nvPr/>
        </p:nvSpPr>
        <p:spPr>
          <a:xfrm xmlns:a="http://schemas.openxmlformats.org/drawingml/2006/main">
            <a:off x="5095875" y="3499009"/>
            <a:ext cx="6400800" cy="557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95959"/>
                </a:solidFill>
                <a:latin typeface="Helvetica Neue"/>
                <a:ea typeface="Helvetica Neue"/>
                <a:cs typeface="Helvetica Neue"/>
              </a:defRPr>
            </a:defPPr>
          </a:lstStyle>
          <a:p xmlns:a="http://schemas.openxmlformats.org/drawingml/2006/main">
            <a:pPr>
              <a:buNone/>
              <a:defRPr sz="1650" b="0">
                <a:solidFill>
                  <a:srgbClr val="595959"/>
                </a:solidFill>
                <a:latin typeface="Helvetica Neue"/>
                <a:ea typeface="Helvetica Neue"/>
                <a:cs typeface="Helvetica Neue"/>
              </a:defRPr>
            </a:pPr>
            <a:r>
              <a:rPr sz="1650" b="0">
                <a:solidFill>
                  <a:srgbClr val="595959"/>
                </a:solidFill>
                <a:latin typeface="Helvetica Neue"/>
                <a:ea typeface="Helvetica Neue"/>
                <a:cs typeface="Helvetica Neue"/>
              </a:rPr>
              <a:t>QUA-002, revision 3</a:t>
            </a:r>
          </a:p>
          <a:p xmlns:a="http://schemas.openxmlformats.org/drawingml/2006/main">
            <a:pPr>
              <a:buNone/>
              <a:defRPr sz="1650" b="0">
                <a:solidFill>
                  <a:srgbClr val="595959"/>
                </a:solidFill>
                <a:latin typeface="Helvetica Neue"/>
                <a:ea typeface="Helvetica Neue"/>
                <a:cs typeface="Helvetica Neue"/>
              </a:defRPr>
            </a:pPr>
            <a:r>
              <a:rPr sz="1650" b="0">
                <a:solidFill>
                  <a:srgbClr val="595959"/>
                </a:solidFill>
                <a:latin typeface="Helvetica Neue"/>
                <a:ea typeface="Helvetica Neue"/>
                <a:cs typeface="Helvetica Neue"/>
              </a:rPr>
              <a:t>Section 1, line 14 [1]</a:t>
            </a:r>
          </a:p>
        </p:txBody>
      </p:sp>
      <p:sp>
        <p:nvSpPr>
          <p:cNvPr id="10" name="Guardrails heading">
            <a:extLst xmlns:a="http://schemas.openxmlformats.org/drawingml/2006/main">
              <a:ext uri="{FF2B5EF4-FFF2-40B4-BE49-F238E27FC236}">
                <a16:creationId xmlns:a16="http://schemas.microsoft.com/office/drawing/2014/main" id="{89821EB1-56F2-4E24-BDA3-D3B862A5CDCF}"/>
              </a:ext>
            </a:extLst>
          </p:cNvPr>
          <p:cNvSpPr>
            <a:spLocks xmlns:a="http://schemas.openxmlformats.org/drawingml/2006/main" noGrp="1"/>
          </p:cNvSpPr>
          <p:nvPr/>
        </p:nvSpPr>
        <p:spPr>
          <a:xfrm xmlns:a="http://schemas.openxmlformats.org/drawingml/2006/main">
            <a:off x="571500" y="4025741"/>
            <a:ext cx="10858500" cy="377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00000"/>
                </a:solidFill>
                <a:latin typeface="Helvetica Neue"/>
                <a:ea typeface="Helvetica Neue"/>
                <a:cs typeface="Helvetica Neue"/>
              </a:defRPr>
            </a:defPPr>
          </a:lstStyle>
          <a:p xmlns:a="http://schemas.openxmlformats.org/drawingml/2006/main">
            <a:pPr>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Guardrails built into the prototype [2]</a:t>
            </a:r>
          </a:p>
        </p:txBody>
      </p:sp>
      <p:sp>
        <p:nvSpPr>
          <p:cNvPr id="11" name="Safety heading">
            <a:extLst xmlns:a="http://schemas.openxmlformats.org/drawingml/2006/main">
              <a:ext uri="{FF2B5EF4-FFF2-40B4-BE49-F238E27FC236}">
                <a16:creationId xmlns:a16="http://schemas.microsoft.com/office/drawing/2014/main" id="{5450F90E-2000-4276-9037-1677085B4975}"/>
              </a:ext>
            </a:extLst>
          </p:cNvPr>
          <p:cNvSpPr>
            <a:spLocks xmlns:a="http://schemas.openxmlformats.org/drawingml/2006/main" noGrp="1"/>
          </p:cNvSpPr>
          <p:nvPr/>
        </p:nvSpPr>
        <p:spPr>
          <a:xfrm xmlns:a="http://schemas.openxmlformats.org/drawingml/2006/main">
            <a:off x="571500" y="4469702"/>
            <a:ext cx="33337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0000"/>
                </a:solidFill>
                <a:latin typeface="Helvetica Neue"/>
                <a:ea typeface="Helvetica Neue"/>
                <a:cs typeface="Helvetica Neue"/>
              </a:defRPr>
            </a:defPPr>
          </a:lstStyle>
          <a:p xmlns:a="http://schemas.openxmlformats.org/drawingml/2006/main">
            <a:pPr>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Safety screening</a:t>
            </a:r>
          </a:p>
        </p:txBody>
      </p:sp>
      <p:sp>
        <p:nvSpPr>
          <p:cNvPr id="12" name="Safety description">
            <a:extLst xmlns:a="http://schemas.openxmlformats.org/drawingml/2006/main">
              <a:ext uri="{FF2B5EF4-FFF2-40B4-BE49-F238E27FC236}">
                <a16:creationId xmlns:a16="http://schemas.microsoft.com/office/drawing/2014/main" id="{8EDD05F5-4B7D-4289-9F75-8C54E5C7D9ED}"/>
              </a:ext>
            </a:extLst>
          </p:cNvPr>
          <p:cNvSpPr>
            <a:spLocks xmlns:a="http://schemas.openxmlformats.org/drawingml/2006/main" noGrp="1"/>
          </p:cNvSpPr>
          <p:nvPr/>
        </p:nvSpPr>
        <p:spPr>
          <a:xfrm xmlns:a="http://schemas.openxmlformats.org/drawingml/2006/main">
            <a:off x="571500" y="4793266"/>
            <a:ext cx="3333750"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333333"/>
                </a:solidFill>
                <a:latin typeface="Helvetica Neue"/>
                <a:ea typeface="Helvetica Neue"/>
                <a:cs typeface="Helvetica Neue"/>
              </a:defRPr>
            </a:defPPr>
          </a:lstStyle>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Screens questions and answers</a:t>
            </a:r>
          </a:p>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for harmful instructions.</a:t>
            </a:r>
          </a:p>
        </p:txBody>
      </p:sp>
      <p:sp>
        <p:nvSpPr>
          <p:cNvPr id="13" name="Verification heading">
            <a:extLst xmlns:a="http://schemas.openxmlformats.org/drawingml/2006/main">
              <a:ext uri="{FF2B5EF4-FFF2-40B4-BE49-F238E27FC236}">
                <a16:creationId xmlns:a16="http://schemas.microsoft.com/office/drawing/2014/main" id="{792A3DAA-1143-4835-B3FD-251E70DBF613}"/>
              </a:ext>
            </a:extLst>
          </p:cNvPr>
          <p:cNvSpPr>
            <a:spLocks xmlns:a="http://schemas.openxmlformats.org/drawingml/2006/main" noGrp="1"/>
          </p:cNvSpPr>
          <p:nvPr/>
        </p:nvSpPr>
        <p:spPr>
          <a:xfrm xmlns:a="http://schemas.openxmlformats.org/drawingml/2006/main">
            <a:off x="4381500" y="4469702"/>
            <a:ext cx="338137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0000"/>
                </a:solidFill>
                <a:latin typeface="Helvetica Neue"/>
                <a:ea typeface="Helvetica Neue"/>
                <a:cs typeface="Helvetica Neue"/>
              </a:defRPr>
            </a:defPPr>
          </a:lstStyle>
          <a:p xmlns:a="http://schemas.openxmlformats.org/drawingml/2006/main">
            <a:pPr>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Evidence checks</a:t>
            </a:r>
          </a:p>
        </p:txBody>
      </p:sp>
      <p:sp>
        <p:nvSpPr>
          <p:cNvPr id="14" name="Verification description">
            <a:extLst xmlns:a="http://schemas.openxmlformats.org/drawingml/2006/main">
              <a:ext uri="{FF2B5EF4-FFF2-40B4-BE49-F238E27FC236}">
                <a16:creationId xmlns:a16="http://schemas.microsoft.com/office/drawing/2014/main" id="{A38E9A3A-DD8C-4815-8968-5F9B8E86B902}"/>
              </a:ext>
            </a:extLst>
          </p:cNvPr>
          <p:cNvSpPr>
            <a:spLocks xmlns:a="http://schemas.openxmlformats.org/drawingml/2006/main" noGrp="1"/>
          </p:cNvSpPr>
          <p:nvPr/>
        </p:nvSpPr>
        <p:spPr>
          <a:xfrm xmlns:a="http://schemas.openxmlformats.org/drawingml/2006/main">
            <a:off x="4381500" y="4793266"/>
            <a:ext cx="3409950" cy="702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333333"/>
                </a:solidFill>
                <a:latin typeface="Helvetica Neue"/>
                <a:ea typeface="Helvetica Neue"/>
                <a:cs typeface="Helvetica Neue"/>
              </a:defRPr>
            </a:defPPr>
          </a:lstStyle>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Validates source IDs and quotes.</a:t>
            </a:r>
          </a:p>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Withholds drafts that fail verification.</a:t>
            </a:r>
          </a:p>
        </p:txBody>
      </p:sp>
      <p:sp>
        <p:nvSpPr>
          <p:cNvPr id="15" name="Abstention heading">
            <a:extLst xmlns:a="http://schemas.openxmlformats.org/drawingml/2006/main">
              <a:ext uri="{FF2B5EF4-FFF2-40B4-BE49-F238E27FC236}">
                <a16:creationId xmlns:a16="http://schemas.microsoft.com/office/drawing/2014/main" id="{4B12F490-ECE8-4D68-8DC8-824BC9122E9B}"/>
              </a:ext>
            </a:extLst>
          </p:cNvPr>
          <p:cNvSpPr>
            <a:spLocks xmlns:a="http://schemas.openxmlformats.org/drawingml/2006/main" noGrp="1"/>
          </p:cNvSpPr>
          <p:nvPr/>
        </p:nvSpPr>
        <p:spPr>
          <a:xfrm xmlns:a="http://schemas.openxmlformats.org/drawingml/2006/main">
            <a:off x="8248650" y="4469702"/>
            <a:ext cx="338137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0000"/>
                </a:solidFill>
                <a:latin typeface="Helvetica Neue"/>
                <a:ea typeface="Helvetica Neue"/>
                <a:cs typeface="Helvetica Neue"/>
              </a:defRPr>
            </a:defPPr>
          </a:lstStyle>
          <a:p xmlns:a="http://schemas.openxmlformats.org/drawingml/2006/main">
            <a:pPr>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Clear limits</a:t>
            </a:r>
          </a:p>
        </p:txBody>
      </p:sp>
      <p:sp>
        <p:nvSpPr>
          <p:cNvPr id="16" name="Abstention description">
            <a:extLst xmlns:a="http://schemas.openxmlformats.org/drawingml/2006/main">
              <a:ext uri="{FF2B5EF4-FFF2-40B4-BE49-F238E27FC236}">
                <a16:creationId xmlns:a16="http://schemas.microsoft.com/office/drawing/2014/main" id="{6C8D2C80-3B2C-4369-AE85-4480C7BBABF8}"/>
              </a:ext>
            </a:extLst>
          </p:cNvPr>
          <p:cNvSpPr>
            <a:spLocks xmlns:a="http://schemas.openxmlformats.org/drawingml/2006/main" noGrp="1"/>
          </p:cNvSpPr>
          <p:nvPr/>
        </p:nvSpPr>
        <p:spPr>
          <a:xfrm xmlns:a="http://schemas.openxmlformats.org/drawingml/2006/main">
            <a:off x="8248650" y="4793266"/>
            <a:ext cx="338137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333333"/>
                </a:solidFill>
                <a:latin typeface="Helvetica Neue"/>
                <a:ea typeface="Helvetica Neue"/>
                <a:cs typeface="Helvetica Neue"/>
              </a:defRPr>
            </a:defPPr>
          </a:lstStyle>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Asks for clarification or declines</a:t>
            </a:r>
          </a:p>
          <a:p xmlns:a="http://schemas.openxmlformats.org/drawingml/2006/main">
            <a:pPr>
              <a:buNone/>
              <a:defRPr sz="1725" b="0">
                <a:solidFill>
                  <a:srgbClr val="333333"/>
                </a:solidFill>
                <a:latin typeface="Helvetica Neue"/>
                <a:ea typeface="Helvetica Neue"/>
                <a:cs typeface="Helvetica Neue"/>
              </a:defRPr>
            </a:pPr>
            <a:r>
              <a:rPr sz="1725" b="0">
                <a:solidFill>
                  <a:srgbClr val="333333"/>
                </a:solidFill>
                <a:latin typeface="Helvetica Neue"/>
                <a:ea typeface="Helvetica Neue"/>
                <a:cs typeface="Helvetica Neue"/>
              </a:rPr>
              <a:t>when evidence is insufficient.</a:t>
            </a:r>
          </a:p>
        </p:txBody>
      </p:sp>
      <p:sp>
        <p:nvSpPr>
          <p:cNvPr id="17" name="Pilot proposal">
            <a:extLst xmlns:a="http://schemas.openxmlformats.org/drawingml/2006/main">
              <a:ext uri="{FF2B5EF4-FFF2-40B4-BE49-F238E27FC236}">
                <a16:creationId xmlns:a16="http://schemas.microsoft.com/office/drawing/2014/main" id="{79928E8F-670A-45F4-AA34-579D7B761B8E}"/>
              </a:ext>
            </a:extLst>
          </p:cNvPr>
          <p:cNvSpPr>
            <a:spLocks xmlns:a="http://schemas.openxmlformats.org/drawingml/2006/main" noGrp="1"/>
          </p:cNvSpPr>
          <p:nvPr/>
        </p:nvSpPr>
        <p:spPr>
          <a:xfrm xmlns:a="http://schemas.openxmlformats.org/drawingml/2006/main">
            <a:off x="571500" y="58769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00000"/>
                </a:solidFill>
                <a:latin typeface="Helvetica Neue"/>
                <a:ea typeface="Helvetica Neue"/>
                <a:cs typeface="Helvetica Neue"/>
              </a:defRPr>
            </a:defPPr>
          </a:lstStyle>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Proposed pilot: approved plant documents, supervised use, measured search time and answer accuracy.</a:t>
            </a:r>
          </a:p>
        </p:txBody>
      </p:sp>
      <p:sp>
        <p:nvSpPr>
          <p:cNvPr id="18" name="Limit disclosure">
            <a:extLst xmlns:a="http://schemas.openxmlformats.org/drawingml/2006/main">
              <a:ext uri="{FF2B5EF4-FFF2-40B4-BE49-F238E27FC236}">
                <a16:creationId xmlns:a16="http://schemas.microsoft.com/office/drawing/2014/main" id="{019BC33F-9D98-46CB-A426-D1CC47A9C426}"/>
              </a:ext>
            </a:extLst>
          </p:cNvPr>
          <p:cNvSpPr>
            <a:spLocks xmlns:a="http://schemas.openxmlformats.org/drawingml/2006/main" noGrp="1"/>
          </p:cNvSpPr>
          <p:nvPr/>
        </p:nvSpPr>
        <p:spPr>
          <a:xfrm xmlns:a="http://schemas.openxmlformats.org/drawingml/2006/main">
            <a:off x="571500" y="636270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95959"/>
                </a:solidFill>
                <a:latin typeface="Helvetica Neue"/>
                <a:ea typeface="Helvetica Neue"/>
                <a:cs typeface="Helvetica Neue"/>
              </a:defRPr>
            </a:defPPr>
          </a:lstStyle>
          <a:p xmlns:a="http://schemas.openxmlformats.org/drawingml/2006/main">
            <a:pPr>
              <a:buNone/>
              <a:defRPr sz="1275" b="0">
                <a:solidFill>
                  <a:srgbClr val="595959"/>
                </a:solidFill>
                <a:latin typeface="Helvetica Neue"/>
                <a:ea typeface="Helvetica Neue"/>
                <a:cs typeface="Helvetica Neue"/>
              </a:defRPr>
            </a:pPr>
            <a:r>
              <a:rPr sz="1275" b="0">
                <a:solidFill>
                  <a:srgbClr val="595959"/>
                </a:solidFill>
                <a:latin typeface="Helvetica Neue"/>
                <a:ea typeface="Helvetica Neue"/>
                <a:cs typeface="Helvetica Neue"/>
              </a:rPr>
              <a:t>Demo uses 12 fictional documents. Known answer-support and safety gaps require resolution before plant use.</a:t>
            </a:r>
          </a:p>
        </p:txBody>
      </p:sp>
      <p:sp>
        <p:nvSpPr>
          <p:cNvPr id="19" name="Sources">
            <a:extLst xmlns:a="http://schemas.openxmlformats.org/drawingml/2006/main">
              <a:ext uri="{FF2B5EF4-FFF2-40B4-BE49-F238E27FC236}">
                <a16:creationId xmlns:a16="http://schemas.microsoft.com/office/drawing/2014/main" id="{DEFFA8BD-E046-4C4F-8B02-C29BCE7DAAF0}"/>
              </a:ext>
            </a:extLst>
          </p:cNvPr>
          <p:cNvSpPr>
            <a:spLocks xmlns:a="http://schemas.openxmlformats.org/drawingml/2006/main" noGrp="1"/>
          </p:cNvSpPr>
          <p:nvPr/>
        </p:nvSpPr>
        <p:spPr>
          <a:xfrm xmlns:a="http://schemas.openxmlformats.org/drawingml/2006/main">
            <a:off x="571500" y="6629400"/>
            <a:ext cx="1100137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595959"/>
                </a:solidFill>
                <a:latin typeface="Helvetica Neue"/>
                <a:ea typeface="Helvetica Neue"/>
                <a:cs typeface="Helvetica Neue"/>
              </a:defRPr>
            </a:defPPr>
          </a:lstStyle>
          <a:p xmlns:a="http://schemas.openxmlformats.org/drawingml/2006/main">
            <a:pPr>
              <a:buNone/>
              <a:defRPr sz="975" b="0">
                <a:solidFill>
                  <a:srgbClr val="595959"/>
                </a:solidFill>
                <a:latin typeface="Helvetica Neue"/>
                <a:ea typeface="Helvetica Neue"/>
                <a:cs typeface="Helvetica Neue"/>
              </a:defRPr>
            </a:pPr>
            <a:r>
              <a:rPr sz="975" b="0">
                <a:solidFill>
                  <a:srgbClr val="595959"/>
                </a:solidFill>
                <a:latin typeface="Helvetica Neue"/>
                <a:ea typeface="Helvetica Neue"/>
                <a:cs typeface="Helvetica Neue"/>
              </a:rPr>
              <a:t>Sources: [1] QUA-002 §1. [2] README and answer workflow. Full references in speaker notes.</a:t>
            </a:r>
          </a:p>
        </p:txBody>
      </p:sp>
    </p:spTree>
    <p:extLst>
      <p:ext uri="{BB962C8B-B14F-4D97-AF65-F5344CB8AC3E}">
        <p14:creationId xmlns:p14="http://schemas.microsoft.com/office/powerpoint/2010/main" val="2018660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2026-10-09T19:37:28.0650000Z</dcterms:created>
  <dcterms:modified xsi:type="dcterms:W3CDTF">2026-10-09T19:37:28.0650000Z</dcterms:modified>
</coreProperties>
</file>